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21674138" cy="12192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6" userDrawn="1">
          <p15:clr>
            <a:srgbClr val="A4A3A4"/>
          </p15:clr>
        </p15:guide>
        <p15:guide id="2" pos="6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2727"/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4" autoAdjust="0"/>
    <p:restoredTop sz="95741"/>
  </p:normalViewPr>
  <p:slideViewPr>
    <p:cSldViewPr snapToGrid="0" showGuides="1">
      <p:cViewPr>
        <p:scale>
          <a:sx n="59" d="100"/>
          <a:sy n="59" d="100"/>
        </p:scale>
        <p:origin x="976" y="320"/>
      </p:cViewPr>
      <p:guideLst>
        <p:guide orient="horz" pos="3886"/>
        <p:guide pos="68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36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9267" y="1995312"/>
            <a:ext cx="16255604" cy="4244622"/>
          </a:xfrm>
        </p:spPr>
        <p:txBody>
          <a:bodyPr anchor="b"/>
          <a:lstStyle>
            <a:lvl1pPr algn="ctr"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6403623"/>
            <a:ext cx="16255604" cy="2943577"/>
          </a:xfrm>
        </p:spPr>
        <p:txBody>
          <a:bodyPr/>
          <a:lstStyle>
            <a:lvl1pPr marL="0" indent="0" algn="ctr">
              <a:buNone/>
              <a:defRPr sz="4266"/>
            </a:lvl1pPr>
            <a:lvl2pPr marL="812764" indent="0" algn="ctr">
              <a:buNone/>
              <a:defRPr sz="3555"/>
            </a:lvl2pPr>
            <a:lvl3pPr marL="1625529" indent="0" algn="ctr">
              <a:buNone/>
              <a:defRPr sz="3200"/>
            </a:lvl3pPr>
            <a:lvl4pPr marL="2438293" indent="0" algn="ctr">
              <a:buNone/>
              <a:defRPr sz="2844"/>
            </a:lvl4pPr>
            <a:lvl5pPr marL="3251058" indent="0" algn="ctr">
              <a:buNone/>
              <a:defRPr sz="2844"/>
            </a:lvl5pPr>
            <a:lvl6pPr marL="4063822" indent="0" algn="ctr">
              <a:buNone/>
              <a:defRPr sz="2844"/>
            </a:lvl6pPr>
            <a:lvl7pPr marL="4876587" indent="0" algn="ctr">
              <a:buNone/>
              <a:defRPr sz="2844"/>
            </a:lvl7pPr>
            <a:lvl8pPr marL="5689351" indent="0" algn="ctr">
              <a:buNone/>
              <a:defRPr sz="2844"/>
            </a:lvl8pPr>
            <a:lvl9pPr marL="6502116" indent="0" algn="ctr">
              <a:buNone/>
              <a:defRPr sz="284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41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54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08" y="3039535"/>
            <a:ext cx="18693944" cy="5071532"/>
          </a:xfrm>
        </p:spPr>
        <p:txBody>
          <a:bodyPr anchor="b"/>
          <a:lstStyle>
            <a:lvl1pPr>
              <a:defRPr sz="1066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08" y="8159046"/>
            <a:ext cx="18693944" cy="2666999"/>
          </a:xfrm>
        </p:spPr>
        <p:txBody>
          <a:bodyPr/>
          <a:lstStyle>
            <a:lvl1pPr marL="0" indent="0">
              <a:buNone/>
              <a:defRPr sz="4266">
                <a:solidFill>
                  <a:schemeClr val="tx1">
                    <a:tint val="75000"/>
                  </a:schemeClr>
                </a:solidFill>
              </a:defRPr>
            </a:lvl1pPr>
            <a:lvl2pPr marL="812764" indent="0">
              <a:buNone/>
              <a:defRPr sz="3555">
                <a:solidFill>
                  <a:schemeClr val="tx1">
                    <a:tint val="75000"/>
                  </a:schemeClr>
                </a:solidFill>
              </a:defRPr>
            </a:lvl2pPr>
            <a:lvl3pPr marL="162552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293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058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3822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587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3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116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64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3245556"/>
            <a:ext cx="9211509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510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649112"/>
            <a:ext cx="18693944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1" y="2988734"/>
            <a:ext cx="9169175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1" y="4453467"/>
            <a:ext cx="916917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2" y="2988734"/>
            <a:ext cx="9214332" cy="1464732"/>
          </a:xfrm>
        </p:spPr>
        <p:txBody>
          <a:bodyPr anchor="b"/>
          <a:lstStyle>
            <a:lvl1pPr marL="0" indent="0">
              <a:buNone/>
              <a:defRPr sz="4266" b="1"/>
            </a:lvl1pPr>
            <a:lvl2pPr marL="812764" indent="0">
              <a:buNone/>
              <a:defRPr sz="3555" b="1"/>
            </a:lvl2pPr>
            <a:lvl3pPr marL="1625529" indent="0">
              <a:buNone/>
              <a:defRPr sz="3200" b="1"/>
            </a:lvl3pPr>
            <a:lvl4pPr marL="2438293" indent="0">
              <a:buNone/>
              <a:defRPr sz="2844" b="1"/>
            </a:lvl4pPr>
            <a:lvl5pPr marL="3251058" indent="0">
              <a:buNone/>
              <a:defRPr sz="2844" b="1"/>
            </a:lvl5pPr>
            <a:lvl6pPr marL="4063822" indent="0">
              <a:buNone/>
              <a:defRPr sz="2844" b="1"/>
            </a:lvl6pPr>
            <a:lvl7pPr marL="4876587" indent="0">
              <a:buNone/>
              <a:defRPr sz="2844" b="1"/>
            </a:lvl7pPr>
            <a:lvl8pPr marL="5689351" indent="0">
              <a:buNone/>
              <a:defRPr sz="2844" b="1"/>
            </a:lvl8pPr>
            <a:lvl9pPr marL="6502116" indent="0">
              <a:buNone/>
              <a:defRPr sz="284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2" y="4453467"/>
            <a:ext cx="9214332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73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8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2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1755423"/>
            <a:ext cx="10972532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6"/>
            </a:lvl3pPr>
            <a:lvl4pPr>
              <a:defRPr sz="3555"/>
            </a:lvl4pPr>
            <a:lvl5pPr>
              <a:defRPr sz="3555"/>
            </a:lvl5pPr>
            <a:lvl6pPr>
              <a:defRPr sz="3555"/>
            </a:lvl6pPr>
            <a:lvl7pPr>
              <a:defRPr sz="3555"/>
            </a:lvl7pPr>
            <a:lvl8pPr>
              <a:defRPr sz="3555"/>
            </a:lvl8pPr>
            <a:lvl9pPr>
              <a:defRPr sz="355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357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1" y="812800"/>
            <a:ext cx="699047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1755423"/>
            <a:ext cx="10972532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764" indent="0">
              <a:buNone/>
              <a:defRPr sz="4978"/>
            </a:lvl2pPr>
            <a:lvl3pPr marL="1625529" indent="0">
              <a:buNone/>
              <a:defRPr sz="4266"/>
            </a:lvl3pPr>
            <a:lvl4pPr marL="2438293" indent="0">
              <a:buNone/>
              <a:defRPr sz="3555"/>
            </a:lvl4pPr>
            <a:lvl5pPr marL="3251058" indent="0">
              <a:buNone/>
              <a:defRPr sz="3555"/>
            </a:lvl5pPr>
            <a:lvl6pPr marL="4063822" indent="0">
              <a:buNone/>
              <a:defRPr sz="3555"/>
            </a:lvl6pPr>
            <a:lvl7pPr marL="4876587" indent="0">
              <a:buNone/>
              <a:defRPr sz="3555"/>
            </a:lvl7pPr>
            <a:lvl8pPr marL="5689351" indent="0">
              <a:buNone/>
              <a:defRPr sz="3555"/>
            </a:lvl8pPr>
            <a:lvl9pPr marL="6502116" indent="0">
              <a:buNone/>
              <a:defRPr sz="355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1" y="3657600"/>
            <a:ext cx="699047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764" indent="0">
              <a:buNone/>
              <a:defRPr sz="2489"/>
            </a:lvl2pPr>
            <a:lvl3pPr marL="1625529" indent="0">
              <a:buNone/>
              <a:defRPr sz="2133"/>
            </a:lvl3pPr>
            <a:lvl4pPr marL="2438293" indent="0">
              <a:buNone/>
              <a:defRPr sz="1778"/>
            </a:lvl4pPr>
            <a:lvl5pPr marL="3251058" indent="0">
              <a:buNone/>
              <a:defRPr sz="1778"/>
            </a:lvl5pPr>
            <a:lvl6pPr marL="4063822" indent="0">
              <a:buNone/>
              <a:defRPr sz="1778"/>
            </a:lvl6pPr>
            <a:lvl7pPr marL="4876587" indent="0">
              <a:buNone/>
              <a:defRPr sz="1778"/>
            </a:lvl7pPr>
            <a:lvl8pPr marL="5689351" indent="0">
              <a:buNone/>
              <a:defRPr sz="1778"/>
            </a:lvl8pPr>
            <a:lvl9pPr marL="6502116" indent="0">
              <a:buNone/>
              <a:defRPr sz="17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2024/4/2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592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6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5" y="649111"/>
            <a:ext cx="467348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7" y="649111"/>
            <a:ext cx="13749531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064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1490100" y="980617"/>
            <a:ext cx="18693944" cy="9883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649112"/>
            <a:ext cx="18693944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3245556"/>
            <a:ext cx="18693944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2024/4/2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11300179"/>
            <a:ext cx="7315022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11300179"/>
            <a:ext cx="487668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750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8" r:id="rId12"/>
  </p:sldLayoutIdLst>
  <p:txStyles>
    <p:titleStyle>
      <a:lvl1pPr algn="l" defTabSz="1625529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382" indent="-406382" algn="l" defTabSz="1625529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147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2pPr>
      <a:lvl3pPr marL="2031911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5" kern="1200">
          <a:solidFill>
            <a:schemeClr val="tx1"/>
          </a:solidFill>
          <a:latin typeface="+mn-lt"/>
          <a:ea typeface="+mn-ea"/>
          <a:cs typeface="+mn-cs"/>
        </a:defRPr>
      </a:lvl3pPr>
      <a:lvl4pPr marL="2844676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40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204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2969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5733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498" indent="-406382" algn="l" defTabSz="162552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764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529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293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058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3822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587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351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116" algn="l" defTabSz="1625529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16971579" y="9165835"/>
            <a:ext cx="1983712" cy="367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55, h1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005124" y="8797534"/>
            <a:ext cx="201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BatchNorm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直接箭头连接符 19"/>
          <p:cNvCxnSpPr>
            <a:cxnSpLocks/>
            <a:endCxn id="6" idx="2"/>
          </p:cNvCxnSpPr>
          <p:nvPr/>
        </p:nvCxnSpPr>
        <p:spPr>
          <a:xfrm flipV="1">
            <a:off x="17963435" y="9533500"/>
            <a:ext cx="0" cy="692231"/>
          </a:xfrm>
          <a:prstGeom prst="straightConnector1">
            <a:avLst/>
          </a:prstGeom>
          <a:ln w="38100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cxnSpLocks/>
            <a:stCxn id="6" idx="0"/>
            <a:endCxn id="4" idx="2"/>
          </p:cNvCxnSpPr>
          <p:nvPr/>
        </p:nvCxnSpPr>
        <p:spPr>
          <a:xfrm flipV="1">
            <a:off x="17963435" y="8374307"/>
            <a:ext cx="1" cy="791528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16306835" y="8743560"/>
            <a:ext cx="3770530" cy="9480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17048714" y="1639763"/>
            <a:ext cx="1829435" cy="3676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587559-BCDA-4E13-346E-5E04BCE7DE1A}"/>
              </a:ext>
            </a:extLst>
          </p:cNvPr>
          <p:cNvSpPr txBox="1"/>
          <p:nvPr/>
        </p:nvSpPr>
        <p:spPr>
          <a:xfrm>
            <a:off x="16355770" y="8805735"/>
            <a:ext cx="47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H1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A44E123-B0C3-DB39-49F6-95425D06F0B2}"/>
              </a:ext>
            </a:extLst>
          </p:cNvPr>
          <p:cNvSpPr txBox="1"/>
          <p:nvPr/>
        </p:nvSpPr>
        <p:spPr>
          <a:xfrm>
            <a:off x="16469921" y="10246302"/>
            <a:ext cx="3425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55</a:t>
            </a:r>
            <a:r>
              <a:rPr lang="zh-CN" altLang="en-US" sz="24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个高频人工因子</a:t>
            </a:r>
            <a:endParaRPr lang="en-US" altLang="zh-CN" sz="24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C38E063-D7A2-C3D0-68D4-FBEBD9D962B1}"/>
              </a:ext>
            </a:extLst>
          </p:cNvPr>
          <p:cNvSpPr/>
          <p:nvPr/>
        </p:nvSpPr>
        <p:spPr>
          <a:xfrm>
            <a:off x="16306834" y="9887512"/>
            <a:ext cx="3770530" cy="948055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9A2B492-D899-AA32-55E9-E00C32C56F63}"/>
              </a:ext>
            </a:extLst>
          </p:cNvPr>
          <p:cNvSpPr/>
          <p:nvPr/>
        </p:nvSpPr>
        <p:spPr>
          <a:xfrm>
            <a:off x="16971579" y="8006642"/>
            <a:ext cx="1983713" cy="367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h1, h2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74AE97E-B862-8225-1849-7C3CEC05C71E}"/>
              </a:ext>
            </a:extLst>
          </p:cNvPr>
          <p:cNvSpPr txBox="1"/>
          <p:nvPr/>
        </p:nvSpPr>
        <p:spPr>
          <a:xfrm>
            <a:off x="18005123" y="7638341"/>
            <a:ext cx="201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BatchNorm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直接箭头连接符 20">
            <a:extLst>
              <a:ext uri="{FF2B5EF4-FFF2-40B4-BE49-F238E27FC236}">
                <a16:creationId xmlns:a16="http://schemas.microsoft.com/office/drawing/2014/main" id="{E140CA20-8455-7389-7583-5CFD73533528}"/>
              </a:ext>
            </a:extLst>
          </p:cNvPr>
          <p:cNvCxnSpPr>
            <a:cxnSpLocks/>
            <a:stCxn id="4" idx="0"/>
            <a:endCxn id="55" idx="2"/>
          </p:cNvCxnSpPr>
          <p:nvPr/>
        </p:nvCxnSpPr>
        <p:spPr>
          <a:xfrm flipV="1">
            <a:off x="17963436" y="7216800"/>
            <a:ext cx="0" cy="789842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8F6EA24E-951C-58E4-89FD-6CBFF8220007}"/>
              </a:ext>
            </a:extLst>
          </p:cNvPr>
          <p:cNvSpPr/>
          <p:nvPr/>
        </p:nvSpPr>
        <p:spPr>
          <a:xfrm>
            <a:off x="16306834" y="7584366"/>
            <a:ext cx="3770530" cy="10010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8024128-1B86-2FD7-2FD4-E18C0C72DF63}"/>
              </a:ext>
            </a:extLst>
          </p:cNvPr>
          <p:cNvSpPr txBox="1"/>
          <p:nvPr/>
        </p:nvSpPr>
        <p:spPr>
          <a:xfrm>
            <a:off x="16355769" y="7646542"/>
            <a:ext cx="47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F58362CE-3CE4-56CD-6E99-780EFE62E53B}"/>
              </a:ext>
            </a:extLst>
          </p:cNvPr>
          <p:cNvSpPr/>
          <p:nvPr/>
        </p:nvSpPr>
        <p:spPr>
          <a:xfrm>
            <a:off x="16971579" y="6849135"/>
            <a:ext cx="1983713" cy="367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h2, h3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0BAB968F-FBEB-5F4B-15BA-7FD7B78E4300}"/>
              </a:ext>
            </a:extLst>
          </p:cNvPr>
          <p:cNvSpPr txBox="1"/>
          <p:nvPr/>
        </p:nvSpPr>
        <p:spPr>
          <a:xfrm>
            <a:off x="18005123" y="6480834"/>
            <a:ext cx="201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BatchNorm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接箭头连接符 20">
            <a:extLst>
              <a:ext uri="{FF2B5EF4-FFF2-40B4-BE49-F238E27FC236}">
                <a16:creationId xmlns:a16="http://schemas.microsoft.com/office/drawing/2014/main" id="{096F7353-948A-8B0C-96F3-276DCAA3FFC4}"/>
              </a:ext>
            </a:extLst>
          </p:cNvPr>
          <p:cNvCxnSpPr>
            <a:cxnSpLocks/>
            <a:stCxn id="55" idx="0"/>
            <a:endCxn id="62" idx="2"/>
          </p:cNvCxnSpPr>
          <p:nvPr/>
        </p:nvCxnSpPr>
        <p:spPr>
          <a:xfrm flipH="1" flipV="1">
            <a:off x="17963434" y="6058450"/>
            <a:ext cx="2" cy="790685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C766B83E-D695-CC83-740F-990CD60E6D25}"/>
              </a:ext>
            </a:extLst>
          </p:cNvPr>
          <p:cNvSpPr/>
          <p:nvPr/>
        </p:nvSpPr>
        <p:spPr>
          <a:xfrm>
            <a:off x="16306834" y="6426859"/>
            <a:ext cx="3770530" cy="10010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3A81D398-2A8F-FE08-368B-C1722BC73981}"/>
              </a:ext>
            </a:extLst>
          </p:cNvPr>
          <p:cNvSpPr txBox="1"/>
          <p:nvPr/>
        </p:nvSpPr>
        <p:spPr>
          <a:xfrm>
            <a:off x="16355769" y="6489035"/>
            <a:ext cx="47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H3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691A8B6D-DDA4-9A15-4081-DC92165B554F}"/>
              </a:ext>
            </a:extLst>
          </p:cNvPr>
          <p:cNvSpPr/>
          <p:nvPr/>
        </p:nvSpPr>
        <p:spPr>
          <a:xfrm>
            <a:off x="16971577" y="5690785"/>
            <a:ext cx="1983713" cy="367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h3, h4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FACDD319-103B-A4C1-3E9F-0D324765DCDB}"/>
              </a:ext>
            </a:extLst>
          </p:cNvPr>
          <p:cNvSpPr txBox="1"/>
          <p:nvPr/>
        </p:nvSpPr>
        <p:spPr>
          <a:xfrm>
            <a:off x="18005121" y="5322484"/>
            <a:ext cx="201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BatchNorm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直接箭头连接符 20">
            <a:extLst>
              <a:ext uri="{FF2B5EF4-FFF2-40B4-BE49-F238E27FC236}">
                <a16:creationId xmlns:a16="http://schemas.microsoft.com/office/drawing/2014/main" id="{84E87EA4-BA18-ABE5-8678-E93086B20E20}"/>
              </a:ext>
            </a:extLst>
          </p:cNvPr>
          <p:cNvCxnSpPr>
            <a:cxnSpLocks/>
            <a:stCxn id="62" idx="0"/>
            <a:endCxn id="69" idx="2"/>
          </p:cNvCxnSpPr>
          <p:nvPr/>
        </p:nvCxnSpPr>
        <p:spPr>
          <a:xfrm flipV="1">
            <a:off x="17963434" y="4901194"/>
            <a:ext cx="0" cy="789591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DE535CC8-5A02-27C1-12C0-90C8B7CBC678}"/>
              </a:ext>
            </a:extLst>
          </p:cNvPr>
          <p:cNvSpPr/>
          <p:nvPr/>
        </p:nvSpPr>
        <p:spPr>
          <a:xfrm>
            <a:off x="16306832" y="5268509"/>
            <a:ext cx="3770530" cy="10010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473E50BF-9FF2-AE35-DA35-016D117E0C0A}"/>
              </a:ext>
            </a:extLst>
          </p:cNvPr>
          <p:cNvSpPr txBox="1"/>
          <p:nvPr/>
        </p:nvSpPr>
        <p:spPr>
          <a:xfrm>
            <a:off x="16355767" y="5330685"/>
            <a:ext cx="47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H4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3E0B1568-5920-A1A8-3D3F-C6D6EF884B4D}"/>
              </a:ext>
            </a:extLst>
          </p:cNvPr>
          <p:cNvSpPr/>
          <p:nvPr/>
        </p:nvSpPr>
        <p:spPr>
          <a:xfrm>
            <a:off x="16971577" y="4533529"/>
            <a:ext cx="1983713" cy="367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h4, h5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4A9652C3-B7BF-583A-4A19-55C20B8DEF02}"/>
              </a:ext>
            </a:extLst>
          </p:cNvPr>
          <p:cNvSpPr txBox="1"/>
          <p:nvPr/>
        </p:nvSpPr>
        <p:spPr>
          <a:xfrm>
            <a:off x="18005121" y="4165228"/>
            <a:ext cx="2018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BatchNorm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1" name="直接箭头连接符 20">
            <a:extLst>
              <a:ext uri="{FF2B5EF4-FFF2-40B4-BE49-F238E27FC236}">
                <a16:creationId xmlns:a16="http://schemas.microsoft.com/office/drawing/2014/main" id="{0875E279-8667-D957-FC68-CA1F22011049}"/>
              </a:ext>
            </a:extLst>
          </p:cNvPr>
          <p:cNvCxnSpPr>
            <a:cxnSpLocks/>
            <a:stCxn id="69" idx="0"/>
            <a:endCxn id="77" idx="2"/>
          </p:cNvCxnSpPr>
          <p:nvPr/>
        </p:nvCxnSpPr>
        <p:spPr>
          <a:xfrm flipH="1" flipV="1">
            <a:off x="17963433" y="2818491"/>
            <a:ext cx="1" cy="1715038"/>
          </a:xfrm>
          <a:prstGeom prst="straightConnector1">
            <a:avLst/>
          </a:prstGeom>
          <a:ln w="3810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5D62E40D-413F-4584-A13B-C8694C5A58B6}"/>
              </a:ext>
            </a:extLst>
          </p:cNvPr>
          <p:cNvSpPr/>
          <p:nvPr/>
        </p:nvSpPr>
        <p:spPr>
          <a:xfrm>
            <a:off x="16306832" y="4111253"/>
            <a:ext cx="3770530" cy="1001078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CC1C4C6-112E-ACD5-375C-70BBA5BD1901}"/>
              </a:ext>
            </a:extLst>
          </p:cNvPr>
          <p:cNvSpPr txBox="1"/>
          <p:nvPr/>
        </p:nvSpPr>
        <p:spPr>
          <a:xfrm>
            <a:off x="16355767" y="4173429"/>
            <a:ext cx="47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H5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831199C6-4C65-5DB3-D74C-545BAF7134E6}"/>
              </a:ext>
            </a:extLst>
          </p:cNvPr>
          <p:cNvSpPr/>
          <p:nvPr/>
        </p:nvSpPr>
        <p:spPr>
          <a:xfrm>
            <a:off x="16971576" y="2450826"/>
            <a:ext cx="1983713" cy="36766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Linear, h5, 3</a:t>
            </a:r>
          </a:p>
        </p:txBody>
      </p:sp>
      <p:cxnSp>
        <p:nvCxnSpPr>
          <p:cNvPr id="79" name="直接箭头连接符 20">
            <a:extLst>
              <a:ext uri="{FF2B5EF4-FFF2-40B4-BE49-F238E27FC236}">
                <a16:creationId xmlns:a16="http://schemas.microsoft.com/office/drawing/2014/main" id="{069FFDC1-FCF9-13C7-429C-126F738A1A8B}"/>
              </a:ext>
            </a:extLst>
          </p:cNvPr>
          <p:cNvCxnSpPr>
            <a:cxnSpLocks/>
            <a:stCxn id="77" idx="0"/>
            <a:endCxn id="38" idx="2"/>
          </p:cNvCxnSpPr>
          <p:nvPr/>
        </p:nvCxnSpPr>
        <p:spPr>
          <a:xfrm flipH="1" flipV="1">
            <a:off x="17963432" y="2007428"/>
            <a:ext cx="1" cy="443398"/>
          </a:xfrm>
          <a:prstGeom prst="straightConnector1">
            <a:avLst/>
          </a:prstGeom>
          <a:ln w="38100">
            <a:solidFill>
              <a:srgbClr val="20202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A6DE5CB3-2417-BF59-1429-5587F7F6CA3B}"/>
              </a:ext>
            </a:extLst>
          </p:cNvPr>
          <p:cNvSpPr/>
          <p:nvPr/>
        </p:nvSpPr>
        <p:spPr>
          <a:xfrm>
            <a:off x="16306831" y="2254678"/>
            <a:ext cx="3770530" cy="857526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CE2D71A-2EEC-87A7-86B1-AEC37179866E}"/>
              </a:ext>
            </a:extLst>
          </p:cNvPr>
          <p:cNvSpPr txBox="1"/>
          <p:nvPr/>
        </p:nvSpPr>
        <p:spPr>
          <a:xfrm>
            <a:off x="16355766" y="2316854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420598F-5455-9D9D-4017-83CC8B293F88}"/>
              </a:ext>
            </a:extLst>
          </p:cNvPr>
          <p:cNvSpPr txBox="1"/>
          <p:nvPr/>
        </p:nvSpPr>
        <p:spPr>
          <a:xfrm>
            <a:off x="16355766" y="9926359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D6BEF3B-17FC-7C5E-9806-F34451448B57}"/>
              </a:ext>
            </a:extLst>
          </p:cNvPr>
          <p:cNvSpPr txBox="1"/>
          <p:nvPr/>
        </p:nvSpPr>
        <p:spPr>
          <a:xfrm>
            <a:off x="16309772" y="859672"/>
            <a:ext cx="33073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E82727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未来股价预测（涨、平、跌）</a:t>
            </a:r>
            <a:endParaRPr lang="en-US" altLang="zh-CN" sz="2000" b="1" dirty="0">
              <a:solidFill>
                <a:srgbClr val="E82727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87" name="直接箭头连接符 20">
            <a:extLst>
              <a:ext uri="{FF2B5EF4-FFF2-40B4-BE49-F238E27FC236}">
                <a16:creationId xmlns:a16="http://schemas.microsoft.com/office/drawing/2014/main" id="{0023BA7B-F851-0469-DC15-0D3B31D5AA10}"/>
              </a:ext>
            </a:extLst>
          </p:cNvPr>
          <p:cNvCxnSpPr>
            <a:cxnSpLocks/>
            <a:stCxn id="38" idx="0"/>
            <a:endCxn id="86" idx="2"/>
          </p:cNvCxnSpPr>
          <p:nvPr/>
        </p:nvCxnSpPr>
        <p:spPr>
          <a:xfrm flipH="1" flipV="1">
            <a:off x="17963430" y="1259782"/>
            <a:ext cx="2" cy="379981"/>
          </a:xfrm>
          <a:prstGeom prst="straightConnector1">
            <a:avLst/>
          </a:prstGeom>
          <a:ln w="38100">
            <a:solidFill>
              <a:srgbClr val="E82727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69B9981D-2D06-5C58-FB7C-930ABE8A811A}"/>
              </a:ext>
            </a:extLst>
          </p:cNvPr>
          <p:cNvSpPr txBox="1"/>
          <p:nvPr/>
        </p:nvSpPr>
        <p:spPr>
          <a:xfrm>
            <a:off x="18391779" y="3195683"/>
            <a:ext cx="3088600" cy="83099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h5</a:t>
            </a:r>
            <a:r>
              <a:rPr lang="zh-CN" altLang="en-US" sz="2400" b="1" dirty="0">
                <a:solidFill>
                  <a:schemeClr val="accent5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个基于深度学习挖掘的高频数据因子</a:t>
            </a:r>
            <a:endParaRPr lang="en-US" altLang="zh-CN" sz="2400" b="1" dirty="0">
              <a:solidFill>
                <a:schemeClr val="accent5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94" name="直接箭头连接符 20">
            <a:extLst>
              <a:ext uri="{FF2B5EF4-FFF2-40B4-BE49-F238E27FC236}">
                <a16:creationId xmlns:a16="http://schemas.microsoft.com/office/drawing/2014/main" id="{A239383C-85E3-DC3C-D464-9A4585EF9B3B}"/>
              </a:ext>
            </a:extLst>
          </p:cNvPr>
          <p:cNvCxnSpPr>
            <a:cxnSpLocks/>
            <a:endCxn id="93" idx="1"/>
          </p:cNvCxnSpPr>
          <p:nvPr/>
        </p:nvCxnSpPr>
        <p:spPr>
          <a:xfrm>
            <a:off x="17963430" y="3611182"/>
            <a:ext cx="428349" cy="0"/>
          </a:xfrm>
          <a:prstGeom prst="straightConnector1">
            <a:avLst/>
          </a:prstGeom>
          <a:ln w="38100">
            <a:solidFill>
              <a:schemeClr val="accent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FB5B129-5980-0E5C-972B-BC2BEFA0EF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379726"/>
              </p:ext>
            </p:extLst>
          </p:nvPr>
        </p:nvGraphicFramePr>
        <p:xfrm>
          <a:off x="814053" y="859671"/>
          <a:ext cx="13866020" cy="99759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73204">
                  <a:extLst>
                    <a:ext uri="{9D8B030D-6E8A-4147-A177-3AD203B41FA5}">
                      <a16:colId xmlns:a16="http://schemas.microsoft.com/office/drawing/2014/main" val="2993876768"/>
                    </a:ext>
                  </a:extLst>
                </a:gridCol>
                <a:gridCol w="2773204">
                  <a:extLst>
                    <a:ext uri="{9D8B030D-6E8A-4147-A177-3AD203B41FA5}">
                      <a16:colId xmlns:a16="http://schemas.microsoft.com/office/drawing/2014/main" val="2168301111"/>
                    </a:ext>
                  </a:extLst>
                </a:gridCol>
                <a:gridCol w="2773204">
                  <a:extLst>
                    <a:ext uri="{9D8B030D-6E8A-4147-A177-3AD203B41FA5}">
                      <a16:colId xmlns:a16="http://schemas.microsoft.com/office/drawing/2014/main" val="4236964340"/>
                    </a:ext>
                  </a:extLst>
                </a:gridCol>
                <a:gridCol w="2773204">
                  <a:extLst>
                    <a:ext uri="{9D8B030D-6E8A-4147-A177-3AD203B41FA5}">
                      <a16:colId xmlns:a16="http://schemas.microsoft.com/office/drawing/2014/main" val="595644781"/>
                    </a:ext>
                  </a:extLst>
                </a:gridCol>
                <a:gridCol w="2773204">
                  <a:extLst>
                    <a:ext uri="{9D8B030D-6E8A-4147-A177-3AD203B41FA5}">
                      <a16:colId xmlns:a16="http://schemas.microsoft.com/office/drawing/2014/main" val="2704243005"/>
                    </a:ext>
                  </a:extLst>
                </a:gridCol>
              </a:tblGrid>
              <a:tr h="831325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55</a:t>
                      </a:r>
                      <a:r>
                        <a:rPr lang="zh-CN" altLang="en-US" sz="2400" b="1" dirty="0">
                          <a:solidFill>
                            <a:schemeClr val="bg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个高频人工因子</a:t>
                      </a:r>
                      <a:endParaRPr lang="en-US" altLang="zh-CN" sz="2400" b="1" dirty="0">
                        <a:solidFill>
                          <a:schemeClr val="bg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sz="12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sz="12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sz="12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sz="12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4139724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real_var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ratio_volumeH2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162552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Amihud_illiq</a:t>
                      </a:r>
                      <a:endParaRPr lang="zh-CN" alt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real_varH8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1278384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real_kurtosis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ratio_volumeH3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ret_overnight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corr_VRleadH1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real_kurtosisH8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83034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real_skew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ratio_volumeH4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ret_open2AH1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corr_VRlagH1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real_skewH8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6415755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real_upvar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ratio_volumeH5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ret_open2AL1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real_varH1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real_varlarge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7288898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real_downvar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ratio_volumeH6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ret_open2AH2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real_kurtosisH1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real_kurtosislarge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8507903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ratio_realupvar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ratio_volumeH7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ret_open2AL2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real_skewH1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real_skewlarge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44151045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ratio_realdownvar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diverge_A1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ratio_realvarlarge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0871718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trendratio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corr_VP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diverge_A2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corr_VPH8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corr_VPlarge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1158521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ret_intraday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7743143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intraday_maxdrawdown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corr_VRlag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ret_close2H1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corr_VRleadH8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corr_VRleadlarge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5884979"/>
                  </a:ext>
                </a:extLst>
              </a:tr>
              <a:tr h="8313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ratio_volumeH1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corr_VRlead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corr_VPH1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corr_VRlagH8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corr_VRlaglarge</a:t>
                      </a:r>
                      <a:endParaRPr lang="zh-CN" sz="1800" dirty="0"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9364540"/>
                  </a:ext>
                </a:extLst>
              </a:tr>
            </a:tbl>
          </a:graphicData>
        </a:graphic>
      </p:graphicFrame>
      <p:cxnSp>
        <p:nvCxnSpPr>
          <p:cNvPr id="10" name="曲线连接符 9">
            <a:extLst>
              <a:ext uri="{FF2B5EF4-FFF2-40B4-BE49-F238E27FC236}">
                <a16:creationId xmlns:a16="http://schemas.microsoft.com/office/drawing/2014/main" id="{819454B4-7706-4AE6-FDF6-EA3601B55ACA}"/>
              </a:ext>
            </a:extLst>
          </p:cNvPr>
          <p:cNvCxnSpPr>
            <a:cxnSpLocks/>
            <a:stCxn id="7" idx="3"/>
            <a:endCxn id="3" idx="1"/>
          </p:cNvCxnSpPr>
          <p:nvPr/>
        </p:nvCxnSpPr>
        <p:spPr>
          <a:xfrm>
            <a:off x="14680073" y="5847621"/>
            <a:ext cx="1626761" cy="4513919"/>
          </a:xfrm>
          <a:prstGeom prst="curvedConnector3">
            <a:avLst>
              <a:gd name="adj1" fmla="val 50000"/>
            </a:avLst>
          </a:prstGeom>
          <a:ln w="127000" cmpd="dbl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10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59</TotalTime>
  <Words>247</Words>
  <Application>Microsoft Macintosh PowerPoint</Application>
  <PresentationFormat>自定义</PresentationFormat>
  <Paragraphs>79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宋体</vt:lpstr>
      <vt:lpstr>Microsoft YaHei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涛 林</cp:lastModifiedBy>
  <cp:revision>80</cp:revision>
  <dcterms:created xsi:type="dcterms:W3CDTF">2023-04-02T06:35:41Z</dcterms:created>
  <dcterms:modified xsi:type="dcterms:W3CDTF">2024-04-02T06:20:11Z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2052-5.1.1.7662</vt:lpwstr>
  </property>
  <property fmtid="{D5CDD505-2E9C-101B-9397-08002B2CF9AE}" pid="3" name="ICV">
    <vt:lpwstr>DAF0A3685E667C9FE61F296405932925</vt:lpwstr>
  </property>
</Properties>
</file>