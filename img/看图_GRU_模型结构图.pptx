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9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79"/>
    <p:restoredTop sz="95775"/>
  </p:normalViewPr>
  <p:slideViewPr>
    <p:cSldViewPr snapToGrid="0">
      <p:cViewPr varScale="1">
        <p:scale>
          <a:sx n="110" d="100"/>
          <a:sy n="110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6FB59-7D16-58DB-AB91-C0C267075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50C4D6-7756-9A0B-6C35-058120451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4EA101-2E70-71E7-EE98-27F049FE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3A7-3264-9E4B-8D5B-CBE411DFC73B}" type="datetimeFigureOut">
              <a:rPr kumimoji="1" lang="zh-CN" altLang="en-US" smtClean="0"/>
              <a:t>2024/4/2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F37EE4-1277-4D15-780F-B3F59DEC1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8ACF9-1398-7BFE-B22B-B2DAA747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610C-FBDA-4940-B36B-11D6F2C8C1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17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DE9DC5-EF63-B1B5-9D41-974012B95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C3CBCB-9CB6-8DDE-73F4-E803AB282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64B9FA-1A76-6F58-767E-DFBC7608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3A7-3264-9E4B-8D5B-CBE411DFC73B}" type="datetimeFigureOut">
              <a:rPr kumimoji="1" lang="zh-CN" altLang="en-US" smtClean="0"/>
              <a:t>2024/4/2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3163E-4189-F7F5-905F-E41E6322F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64AB80-3994-50B6-1C69-90C92572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610C-FBDA-4940-B36B-11D6F2C8C1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300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B5EA3-E2BA-C01A-F94A-BC60283F1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68D3F4-FF2D-C745-56B9-6FDAFBD95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0E2D4C-88D7-FBC2-FED8-BF8A72978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3A7-3264-9E4B-8D5B-CBE411DFC73B}" type="datetimeFigureOut">
              <a:rPr kumimoji="1" lang="zh-CN" altLang="en-US" smtClean="0"/>
              <a:t>2024/4/2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E5CE7D-70FD-6C13-585E-118235E3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F800D3-ED26-8FB9-5151-C2528A99F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610C-FBDA-4940-B36B-11D6F2C8C1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694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E9721-53E4-703A-D7C2-2576A58A2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5D02BC-A390-A6FB-88B6-D5708E1A2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637137-B2D6-3EEA-AEA9-C2B5E7C95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374B75-778B-8752-9C8E-C53732861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3A7-3264-9E4B-8D5B-CBE411DFC73B}" type="datetimeFigureOut">
              <a:rPr kumimoji="1" lang="zh-CN" altLang="en-US" smtClean="0"/>
              <a:t>2024/4/2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AE528C-95CB-1E48-2F03-49889EED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53B9E5-A83B-7DB2-E692-F314AA44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610C-FBDA-4940-B36B-11D6F2C8C1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5090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6CD3F-519B-138D-BD0E-683B5963A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A14C37-5CE5-22C6-4251-2BED89633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673241-925D-7026-3B5B-3AD719979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CEED70-2EB8-C030-0E33-88FCF30A7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9F5389-499D-453F-5AE3-7EFCF8151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123013-3F72-B5C0-FAAC-6B3CDBA12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3A7-3264-9E4B-8D5B-CBE411DFC73B}" type="datetimeFigureOut">
              <a:rPr kumimoji="1" lang="zh-CN" altLang="en-US" smtClean="0"/>
              <a:t>2024/4/2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F2E93D-1F1F-21BA-5FE6-295DC801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08544A-12D8-F0AF-1C9B-2DF11F0B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610C-FBDA-4940-B36B-11D6F2C8C1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9139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AAD109-BA06-3640-202D-311F2391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37257F-49F4-5E29-699C-0A4461988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3A7-3264-9E4B-8D5B-CBE411DFC73B}" type="datetimeFigureOut">
              <a:rPr kumimoji="1" lang="zh-CN" altLang="en-US" smtClean="0"/>
              <a:t>2024/4/2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280B5E-054D-B669-9F8E-C251D0DC6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9E00F9-4C34-D9C1-AF74-B08181C1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610C-FBDA-4940-B36B-11D6F2C8C1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9821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FA286C-6C28-BF91-7E53-E0F127DA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3A7-3264-9E4B-8D5B-CBE411DFC73B}" type="datetimeFigureOut">
              <a:rPr kumimoji="1" lang="zh-CN" altLang="en-US" smtClean="0"/>
              <a:t>2024/4/2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C4B6F3-0D82-1995-4F64-9F60C5E5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DA849C-2EDD-8BF1-6D3F-F5971FB7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610C-FBDA-4940-B36B-11D6F2C8C1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2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BCE5F-349C-7DCA-04FA-B0F88CC43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C2364B-CC04-AD7F-1566-A3232CB39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CB243B-9996-90F6-E6E7-42C0773E7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EEEC6B-AB16-D749-5EF8-C74B6C9B9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3A7-3264-9E4B-8D5B-CBE411DFC73B}" type="datetimeFigureOut">
              <a:rPr kumimoji="1" lang="zh-CN" altLang="en-US" smtClean="0"/>
              <a:t>2024/4/2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2C550E-38D5-D911-ABF2-06AB47B9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94DFAE-122D-9B74-A2B3-AE608DB5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610C-FBDA-4940-B36B-11D6F2C8C1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768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B9B96D-A1D4-5FC9-B827-5B46292B8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0E8868-0999-14FB-C984-1FE5645E2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1FFE04-6CB9-A592-8C32-C47AC7AFB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9B68D6-FD35-B403-687B-4FDD7383D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3A7-3264-9E4B-8D5B-CBE411DFC73B}" type="datetimeFigureOut">
              <a:rPr kumimoji="1" lang="zh-CN" altLang="en-US" smtClean="0"/>
              <a:t>2024/4/2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3762F9-D1D9-E3E6-18F7-F774B8B7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BC30B0-FCF3-7C37-549D-6DF93EDAF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610C-FBDA-4940-B36B-11D6F2C8C1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759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82E96-4BC8-2F44-A535-796767A45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D32FF4-2E3B-6A53-DD0A-4449CECEF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7578D-41DE-5FEA-1F47-ED0EA76E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3A7-3264-9E4B-8D5B-CBE411DFC73B}" type="datetimeFigureOut">
              <a:rPr kumimoji="1" lang="zh-CN" altLang="en-US" smtClean="0"/>
              <a:t>2024/4/2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0DB63C-8622-EB08-55F3-CD9E1919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B80096-5312-55DC-512D-D0AA58D0F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610C-FBDA-4940-B36B-11D6F2C8C1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5839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71BFB7-520D-50A5-C768-0237ACDF5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92F307-5D93-59A8-B650-B85E0928B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1AE6F9-B5DC-5732-9893-816FD288B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53A7-3264-9E4B-8D5B-CBE411DFC73B}" type="datetimeFigureOut">
              <a:rPr kumimoji="1" lang="zh-CN" altLang="en-US" smtClean="0"/>
              <a:t>2024/4/2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28B983-72CC-D4D9-9B27-D6B058C29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753E04-8667-9E9C-0BDC-48E5011C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610C-FBDA-4940-B36B-11D6F2C8C1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1472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914A8F-F8F6-E057-0149-57B8EC1C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295D32-8E30-C7A4-5B0A-E23BF7CC9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D6AA29-D114-181F-2463-5DD472B021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F53A7-3264-9E4B-8D5B-CBE411DFC73B}" type="datetimeFigureOut">
              <a:rPr kumimoji="1" lang="zh-CN" altLang="en-US" smtClean="0"/>
              <a:t>2024/4/2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B74EE6-3FFC-B25F-D3B3-5899254E6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134975-56C3-86E2-C28B-1D1E8ABCA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0610C-FBDA-4940-B36B-11D6F2C8C1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6486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E8E8D0FA-D12A-4C31-DCD8-B968BC052E3B}"/>
              </a:ext>
            </a:extLst>
          </p:cNvPr>
          <p:cNvSpPr txBox="1"/>
          <p:nvPr/>
        </p:nvSpPr>
        <p:spPr>
          <a:xfrm>
            <a:off x="3815549" y="3021473"/>
            <a:ext cx="7920000" cy="378698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10800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直接利用价量序列数据（需进行预处理），采用</a:t>
            </a:r>
            <a:r>
              <a:rPr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时间序列模型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预测未来股价走势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《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基于循环神经网络的价量数据</a:t>
            </a:r>
            <a:r>
              <a:rPr lang="en-US" altLang="zh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Alpha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</a:rPr>
              <a:t>因子挖掘</a:t>
            </a:r>
            <a:r>
              <a:rPr lang="en-US" altLang="zh-CN" dirty="0">
                <a:latin typeface="KaiTi_GB2312" panose="02010609030101010101" pitchFamily="49" charset="-122"/>
                <a:ea typeface="KaiTi_GB2312" panose="02010609030101010101" pitchFamily="49" charset="-122"/>
              </a:rPr>
              <a:t>》</a:t>
            </a: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2E2E5FA-CA18-ECB8-314E-5B597E83EE08}"/>
              </a:ext>
            </a:extLst>
          </p:cNvPr>
          <p:cNvSpPr txBox="1"/>
          <p:nvPr/>
        </p:nvSpPr>
        <p:spPr>
          <a:xfrm>
            <a:off x="3815549" y="85846"/>
            <a:ext cx="7920000" cy="261743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90000" tIns="10800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基于价量序列数据，构建行情图表，采用</a:t>
            </a:r>
            <a:r>
              <a:rPr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图像识别技术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预测未来股价走势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基于卷积神经网络的股价走势</a:t>
            </a:r>
            <a:r>
              <a:rPr lang="en-US" altLang="zh-CN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AI</a:t>
            </a:r>
            <a:r>
              <a:rPr lang="zh-CN" altLang="en-US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识别与分类</a:t>
            </a:r>
            <a:r>
              <a:rPr lang="en-US" altLang="zh-CN" dirty="0">
                <a:latin typeface="KaiTi_GB2312" panose="02010609030101010101" pitchFamily="49" charset="-122"/>
                <a:ea typeface="KaiTi_GB2312" panose="02010609030101010101" pitchFamily="49" charset="-122"/>
                <a:cs typeface="Times New Roman" panose="02020603050405020304" pitchFamily="18" charset="0"/>
              </a:rPr>
              <a:t>》</a:t>
            </a:r>
          </a:p>
          <a:p>
            <a:pPr algn="ctr"/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pPr algn="ctr"/>
            <a:endParaRPr lang="en-US" altLang="zh-CN" dirty="0">
              <a:latin typeface="KaiTi_GB2312" panose="02010609030101010101" pitchFamily="49" charset="-122"/>
              <a:ea typeface="KaiTi_GB2312" panose="02010609030101010101" pitchFamily="49" charset="-122"/>
              <a:cs typeface="Times New Roman" panose="02020603050405020304" pitchFamily="18" charset="0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圆柱体 1">
            <a:extLst>
              <a:ext uri="{FF2B5EF4-FFF2-40B4-BE49-F238E27FC236}">
                <a16:creationId xmlns:a16="http://schemas.microsoft.com/office/drawing/2014/main" id="{6399DCA1-B118-4209-F1C8-D1C4DBD7B10F}"/>
              </a:ext>
            </a:extLst>
          </p:cNvPr>
          <p:cNvSpPr/>
          <p:nvPr/>
        </p:nvSpPr>
        <p:spPr>
          <a:xfrm>
            <a:off x="732539" y="5069536"/>
            <a:ext cx="1594022" cy="945292"/>
          </a:xfrm>
          <a:prstGeom prst="can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天软、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Wind</a:t>
            </a:r>
          </a:p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底层数据库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7F0691-6B40-206D-EBD9-361981DFD259}"/>
              </a:ext>
            </a:extLst>
          </p:cNvPr>
          <p:cNvSpPr/>
          <p:nvPr/>
        </p:nvSpPr>
        <p:spPr>
          <a:xfrm>
            <a:off x="485404" y="4167795"/>
            <a:ext cx="2088292" cy="457200"/>
          </a:xfrm>
          <a:prstGeom prst="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接口抓取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99576E69-995C-6DB1-EDB6-5E7C6FE2D9FB}"/>
              </a:ext>
            </a:extLst>
          </p:cNvPr>
          <p:cNvCxnSpPr>
            <a:stCxn id="2" idx="1"/>
            <a:endCxn id="3" idx="2"/>
          </p:cNvCxnSpPr>
          <p:nvPr/>
        </p:nvCxnSpPr>
        <p:spPr>
          <a:xfrm flipV="1">
            <a:off x="1529550" y="4624995"/>
            <a:ext cx="0" cy="444541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37ED7AE1-49DC-797D-2DD2-15740241DA36}"/>
              </a:ext>
            </a:extLst>
          </p:cNvPr>
          <p:cNvCxnSpPr>
            <a:cxnSpLocks/>
            <a:stCxn id="3" idx="0"/>
            <a:endCxn id="13" idx="3"/>
          </p:cNvCxnSpPr>
          <p:nvPr/>
        </p:nvCxnSpPr>
        <p:spPr>
          <a:xfrm flipV="1">
            <a:off x="1529550" y="3723255"/>
            <a:ext cx="2" cy="44454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A3BE18-8AE0-2F22-3208-1F0B56063964}"/>
              </a:ext>
            </a:extLst>
          </p:cNvPr>
          <p:cNvGrpSpPr/>
          <p:nvPr/>
        </p:nvGrpSpPr>
        <p:grpSpPr>
          <a:xfrm>
            <a:off x="386551" y="2607587"/>
            <a:ext cx="2286001" cy="1115668"/>
            <a:chOff x="1579984" y="3613421"/>
            <a:chExt cx="2286001" cy="1115668"/>
          </a:xfrm>
        </p:grpSpPr>
        <p:sp>
          <p:nvSpPr>
            <p:cNvPr id="13" name="圆柱体 12">
              <a:extLst>
                <a:ext uri="{FF2B5EF4-FFF2-40B4-BE49-F238E27FC236}">
                  <a16:creationId xmlns:a16="http://schemas.microsoft.com/office/drawing/2014/main" id="{67DC5DCE-9F63-01B3-BF90-D6DA3DC7B772}"/>
                </a:ext>
              </a:extLst>
            </p:cNvPr>
            <p:cNvSpPr/>
            <p:nvPr/>
          </p:nvSpPr>
          <p:spPr>
            <a:xfrm>
              <a:off x="1579985" y="3613421"/>
              <a:ext cx="2286000" cy="1115668"/>
            </a:xfrm>
            <a:prstGeom prst="can">
              <a:avLst>
                <a:gd name="adj" fmla="val 38588"/>
              </a:avLst>
            </a:prstGeom>
            <a:solidFill>
              <a:srgbClr val="C00000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9F78196-BBA2-2708-D52C-8E2D4B513026}"/>
                </a:ext>
              </a:extLst>
            </p:cNvPr>
            <p:cNvSpPr txBox="1"/>
            <p:nvPr/>
          </p:nvSpPr>
          <p:spPr>
            <a:xfrm>
              <a:off x="1579984" y="3661936"/>
              <a:ext cx="22859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6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本地原始数据库</a:t>
              </a:r>
              <a:endParaRPr kumimoji="1"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3C8DCC1-4978-92B3-7E0D-B604746FB688}"/>
                </a:ext>
              </a:extLst>
            </p:cNvPr>
            <p:cNvSpPr txBox="1"/>
            <p:nvPr/>
          </p:nvSpPr>
          <p:spPr>
            <a:xfrm>
              <a:off x="1795672" y="4171255"/>
              <a:ext cx="18546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价量原始数据</a:t>
              </a:r>
              <a:endParaRPr kumimoji="1" lang="en-US" altLang="zh-CN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99415228-A314-3532-24C2-25541AFC6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448" y="1060528"/>
            <a:ext cx="7206201" cy="1539431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E6F1911C-A674-B08F-06B1-83F1C212C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370" y="3945525"/>
            <a:ext cx="5572358" cy="2698343"/>
          </a:xfrm>
          <a:prstGeom prst="rect">
            <a:avLst/>
          </a:prstGeom>
        </p:spPr>
      </p:pic>
      <p:cxnSp>
        <p:nvCxnSpPr>
          <p:cNvPr id="50" name="肘形连接符 49">
            <a:extLst>
              <a:ext uri="{FF2B5EF4-FFF2-40B4-BE49-F238E27FC236}">
                <a16:creationId xmlns:a16="http://schemas.microsoft.com/office/drawing/2014/main" id="{36271573-6BFC-7E51-DFF5-4989606B4F79}"/>
              </a:ext>
            </a:extLst>
          </p:cNvPr>
          <p:cNvCxnSpPr>
            <a:cxnSpLocks/>
            <a:stCxn id="13" idx="1"/>
            <a:endCxn id="53" idx="1"/>
          </p:cNvCxnSpPr>
          <p:nvPr/>
        </p:nvCxnSpPr>
        <p:spPr>
          <a:xfrm rot="5400000" flipH="1" flipV="1">
            <a:off x="2066038" y="858077"/>
            <a:ext cx="1213024" cy="2285997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肘形连接符 51">
            <a:extLst>
              <a:ext uri="{FF2B5EF4-FFF2-40B4-BE49-F238E27FC236}">
                <a16:creationId xmlns:a16="http://schemas.microsoft.com/office/drawing/2014/main" id="{74852586-B21E-FA6E-3862-136BFC54C0A3}"/>
              </a:ext>
            </a:extLst>
          </p:cNvPr>
          <p:cNvCxnSpPr>
            <a:cxnSpLocks/>
            <a:stCxn id="13" idx="4"/>
            <a:endCxn id="54" idx="1"/>
          </p:cNvCxnSpPr>
          <p:nvPr/>
        </p:nvCxnSpPr>
        <p:spPr>
          <a:xfrm>
            <a:off x="2672552" y="3165421"/>
            <a:ext cx="1142997" cy="1749545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</Words>
  <Application>Microsoft Macintosh PowerPoint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 Light</vt:lpstr>
      <vt:lpstr>等线</vt:lpstr>
      <vt:lpstr>楷体_GB2312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涛 林</dc:creator>
  <cp:lastModifiedBy>涛 林</cp:lastModifiedBy>
  <cp:revision>2</cp:revision>
  <dcterms:created xsi:type="dcterms:W3CDTF">2024-04-02T04:02:08Z</dcterms:created>
  <dcterms:modified xsi:type="dcterms:W3CDTF">2024-04-02T04:09:01Z</dcterms:modified>
</cp:coreProperties>
</file>